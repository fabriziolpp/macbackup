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702FFF"/>
              </a:gs>
              <a:gs pos="84000">
                <a:srgbClr val="8134FF"/>
              </a:gs>
              <a:gs pos="100000">
                <a:srgbClr val="A33EFF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etals-3d-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-457200"/>
            <a:ext cx="6858000" cy="38709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Graphik"/>
              </a:rPr>
              <a:t>Storia dell'Ordine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Graphik Medium"/>
              </a:rPr>
              <a:t>✠ OSB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Graphik"/>
              </a:rPr>
              <a:t>L'Ordine di </a:t>
            </a:r>
            <a:r>
              <a:rPr sz="4800" b="0">
                <a:solidFill>
                  <a:srgbClr val="FFFFFF"/>
                </a:solidFill>
                <a:latin typeface="Graphik Medium"/>
              </a:rPr>
              <a:t>San Benedetto</a:t>
            </a:r>
          </a:p>
        </p:txBody>
      </p:sp>
      <p:pic>
        <p:nvPicPr>
          <p:cNvPr id="7" name="Picture 6" descr="Acc_Song_SvcMrk_White_Solid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6281928"/>
            <a:ext cx="914400" cy="1137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702FFF"/>
              </a:gs>
              <a:gs pos="84000">
                <a:srgbClr val="8134FF"/>
              </a:gs>
              <a:gs pos="100000">
                <a:srgbClr val="A33EFF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6344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Graphik"/>
              </a:rPr>
              <a:t>ORIGINI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777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Graphik Medium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4552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Graphik"/>
              </a:rPr>
              <a:t>Benedetto da Norcia,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Graphik Medium"/>
              </a:rPr>
              <a:t>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6422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Graphik"/>
              </a:rPr>
              <a:t>Copyright © 2026 Accenture.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36422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Graphik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quid-steel-bl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27432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344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07010A"/>
                </a:solidFill>
                <a:latin typeface="Graphik"/>
              </a:rPr>
              <a:t>ORIGINI E FONDAZIONE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777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7010A"/>
                </a:solidFill>
                <a:latin typeface="Graphik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07010A"/>
                </a:solidFill>
                <a:latin typeface="Graphik Medium"/>
              </a:rPr>
              <a:t>Da Subiaco a Montecassino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7010A"/>
                </a:solidFill>
                <a:latin typeface="Graphik"/>
              </a:rPr>
              <a:t>L'Ordine di San Benedetto (O.S.B.) nasce intorno al 529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7010A"/>
                </a:solidFill>
                <a:latin typeface="Graphik"/>
              </a:rPr>
              <a:t>Benedetto da Norcia (480/490 – 21 marzo 547), dopo gli studi a Roma e un periodo eremitico a Subiaco, fonda il cenobio di Montecassino, dove resterà fino alla morte. Le notizie sulla sua vita derivano dai </a:t>
            </a:r>
            <a:r>
              <a:rPr sz="1800" b="0" u="sng">
                <a:solidFill>
                  <a:srgbClr val="07010A"/>
                </a:solidFill>
                <a:latin typeface="Graphik"/>
                <a:uFill>
                  <a:solidFill>
                    <a:srgbClr val="702FFF"/>
                  </a:solidFill>
                </a:uFill>
              </a:rPr>
              <a:t>Dialoghi di Gregorio Magno</a:t>
            </a:r>
            <a:r>
              <a:rPr sz="1800" b="0">
                <a:solidFill>
                  <a:srgbClr val="07010A"/>
                </a:solidFill>
                <a:latin typeface="Graphik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199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702FFF"/>
                </a:solidFill>
                <a:latin typeface="Graphik Medium"/>
              </a:rPr>
              <a:t>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36422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07010A"/>
                </a:solidFill>
                <a:latin typeface="Graphik"/>
              </a:rPr>
              <a:t>Copyright © 2026 Accenture. All rights reserved.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36422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07010A"/>
                </a:solidFill>
                <a:latin typeface="Graphik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quid-steel-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27432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344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07010A"/>
                </a:solidFill>
                <a:latin typeface="Graphik"/>
              </a:rPr>
              <a:t>LA REGOLA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777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7010A"/>
                </a:solidFill>
                <a:latin typeface="Graphik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07010A"/>
                </a:solidFill>
                <a:latin typeface="Graphik"/>
              </a:rPr>
              <a:t>Un prologo 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7010A"/>
                </a:solidFill>
                <a:latin typeface="Graphik"/>
              </a:rPr>
              <a:t>Composta tra il 530 e il 540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7010A"/>
                </a:solidFill>
                <a:latin typeface="Graphik"/>
              </a:rPr>
              <a:t>La Regola disciplina struttura del monastero, liturgia delle ore, lavoro e accoglienza. Il monaco emette tre voti: </a:t>
            </a:r>
            <a:r>
              <a:rPr sz="1800" b="0" u="sng">
                <a:solidFill>
                  <a:srgbClr val="07010A"/>
                </a:solidFill>
                <a:latin typeface="Graphik"/>
                <a:uFill>
                  <a:solidFill>
                    <a:srgbClr val="702FFF"/>
                  </a:solidFill>
                </a:uFill>
              </a:rPr>
              <a:t>stabilità, obbedienza e conversione dei costumi</a:t>
            </a:r>
            <a:r>
              <a:rPr sz="1800" b="0">
                <a:solidFill>
                  <a:srgbClr val="07010A"/>
                </a:solidFill>
                <a:latin typeface="Graphik"/>
              </a:rPr>
              <a:t>. Studi filologici recenti hanno mostrato la dipendenza dalla precedente Regula Magistri.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199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702FFF"/>
                </a:solidFill>
                <a:latin typeface="Graphik Medium"/>
              </a:rPr>
              <a:t>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36422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07010A"/>
                </a:solidFill>
                <a:latin typeface="Graphik"/>
              </a:rPr>
              <a:t>Copyright © 2026 Accenture. All rights reserved.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36422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07010A"/>
                </a:solidFill>
                <a:latin typeface="Graphik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702FFF"/>
              </a:gs>
              <a:gs pos="84000">
                <a:srgbClr val="8134FF"/>
              </a:gs>
              <a:gs pos="100000">
                <a:srgbClr val="A33EFF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6344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Graphik"/>
              </a:rPr>
              <a:t>DIFFUSIONE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777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Graphik Medium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4552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Graphik"/>
              </a:rPr>
              <a:t>Dal VI al IX secolo,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Graphik Medium"/>
              </a:rPr>
              <a:t>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6422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Graphik"/>
              </a:rPr>
              <a:t>Copyright © 2026 Accenture.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36422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Graphik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quid-steel-bl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27432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344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Graphik"/>
              </a:rPr>
              <a:t>TAPPE DECISIVE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777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Graphik Medium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Graphik"/>
              </a:rPr>
              <a:t>I momenti che hanno plasmato la </a:t>
            </a:r>
            <a:r>
              <a:rPr sz="2200" b="0" u="sng">
                <a:solidFill>
                  <a:srgbClr val="FFFFFF"/>
                </a:solidFill>
                <a:latin typeface="Graphik"/>
                <a:uFill>
                  <a:solidFill>
                    <a:srgbClr val="702FFF"/>
                  </a:solidFill>
                </a:uFill>
              </a:rPr>
              <a:t>diffusione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20954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Graphik Medium"/>
              </a:rPr>
              <a:t>672
Fleury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Graphik"/>
              </a:rPr>
              <a:t>I monaci di Fleury recuperano le reliquie di Benedetto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Graphik"/>
              </a:rPr>
              <a:t>La memoria del fondatore torna in Francia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15384" y="2468880"/>
            <a:ext cx="0" cy="3200400"/>
          </a:xfrm>
          <a:prstGeom prst="line">
            <a:avLst/>
          </a:prstGeom>
          <a:ln w="6350"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89704" y="2468880"/>
            <a:ext cx="320954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Graphik Medium"/>
              </a:rPr>
              <a:t>717
Montecassino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4023360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Graphik"/>
              </a:rPr>
              <a:t>Ricostruzione del cenobio originario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4526280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Graphik"/>
              </a:rPr>
              <a:t>Riapertura del centro spirituale dell'Ordine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73568" y="2468880"/>
            <a:ext cx="0" cy="3200400"/>
          </a:xfrm>
          <a:prstGeom prst="line">
            <a:avLst/>
          </a:prstGeom>
          <a:ln w="6350"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47888" y="2468880"/>
            <a:ext cx="320954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Graphik Medium"/>
              </a:rPr>
              <a:t>817
Aquisgrana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4023360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Graphik Medium"/>
              </a:rPr>
              <a:t>Capitulare Monasticum</a:t>
            </a:r>
            <a:r>
              <a:rPr sz="1400" b="0">
                <a:solidFill>
                  <a:srgbClr val="FFFFFF"/>
                </a:solidFill>
                <a:latin typeface="Graphik"/>
              </a:rPr>
              <a:t>  ispirato da Benedetto d'Aniane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4526280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Graphik Medium"/>
              </a:rPr>
              <a:t>Imposizione</a:t>
            </a:r>
            <a:r>
              <a:rPr sz="1400" b="0">
                <a:solidFill>
                  <a:srgbClr val="FFFFFF"/>
                </a:solidFill>
                <a:latin typeface="Graphik"/>
              </a:rPr>
              <a:t>  a tutti i monasteri franco-germanici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199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Graphik Medium"/>
              </a:rPr>
              <a:t>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36422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Graphik"/>
              </a:rPr>
              <a:t>Copyright © 2026 Accenture. All rights reserved.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36422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Graphik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quid-steel-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274320"/>
            <a:ext cx="3657600" cy="36483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344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07010A"/>
                </a:solidFill>
                <a:latin typeface="Graphik"/>
              </a:rPr>
              <a:t>CENTRI CULTURALI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777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7010A"/>
                </a:solidFill>
                <a:latin typeface="Graphik Medium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07010A"/>
                </a:solidFill>
                <a:latin typeface="Graphik Medium"/>
              </a:rPr>
              <a:t>Scriptoria, biblioteche, scuole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7010A"/>
                </a:solidFill>
                <a:latin typeface="Graphik"/>
              </a:rPr>
              <a:t>I monasteri come motore della cultura altomedievale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7010A"/>
                </a:solidFill>
                <a:latin typeface="Graphik"/>
              </a:rPr>
              <a:t>Su impulso dell'</a:t>
            </a:r>
            <a:r>
              <a:rPr sz="1800" b="0" u="sng">
                <a:solidFill>
                  <a:srgbClr val="07010A"/>
                </a:solidFill>
                <a:latin typeface="Graphik"/>
                <a:uFill>
                  <a:solidFill>
                    <a:srgbClr val="702FFF"/>
                  </a:solidFill>
                </a:uFill>
              </a:rPr>
              <a:t>Admonitio Generalis di Carlo Magno</a:t>
            </a:r>
            <a:r>
              <a:rPr sz="1800" b="0">
                <a:solidFill>
                  <a:srgbClr val="07010A"/>
                </a:solidFill>
                <a:latin typeface="Graphik"/>
              </a:rPr>
              <a:t> (789), i monasteri benedettini divennero centri di copia, conservazione e insegnamento. Custodi della cultura classica, antenati delle università.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199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702FFF"/>
                </a:solidFill>
                <a:latin typeface="Graphik Medium"/>
              </a:rPr>
              <a:t>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36422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07010A"/>
                </a:solidFill>
                <a:latin typeface="Graphik"/>
              </a:rPr>
              <a:t>Copyright © 2026 Accenture. All rights reserved.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36422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07010A"/>
                </a:solidFill>
                <a:latin typeface="Graphik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702FFF"/>
              </a:gs>
              <a:gs pos="84000">
                <a:srgbClr val="8134FF"/>
              </a:gs>
              <a:gs pos="100000">
                <a:srgbClr val="A33EFF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6344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Graphik"/>
              </a:rPr>
              <a:t>CRISI E RIFORME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777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Graphik Medium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4552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Graphik"/>
              </a:rPr>
              <a:t>Dopo l'impero carolingio,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Graphik Medium"/>
              </a:rPr>
              <a:t>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6422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Graphik"/>
              </a:rPr>
              <a:t>Copyright © 2026 Accenture.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36422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Graphik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quid-steel-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27432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344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Graphik"/>
              </a:rPr>
              <a:t>LE GRANDI RIFORME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777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Graphik Medium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Graphik"/>
              </a:rPr>
              <a:t>Risposte plurali alla </a:t>
            </a:r>
            <a:r>
              <a:rPr sz="2200" b="0" u="sng">
                <a:solidFill>
                  <a:srgbClr val="FFFFFF"/>
                </a:solidFill>
                <a:latin typeface="Graphik"/>
                <a:uFill>
                  <a:solidFill>
                    <a:srgbClr val="702FFF"/>
                  </a:solidFill>
                </a:uFill>
              </a:rPr>
              <a:t>crisi</a:t>
            </a:r>
            <a:r>
              <a:rPr sz="2200" b="0">
                <a:solidFill>
                  <a:srgbClr val="FFFFFF"/>
                </a:solidFill>
                <a:latin typeface="Graphik"/>
              </a:rPr>
              <a:t> del X-XII secolo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20954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Graphik Medium"/>
              </a:rPr>
              <a:t>Cluny
909/910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Graphik"/>
              </a:rPr>
              <a:t>Centralizzata, esente da autorità vescovile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Graphik"/>
              </a:rPr>
              <a:t>Circa 1.300 monasteri in Francia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Graphik"/>
              </a:rPr>
              <a:t>Diffusione in Germania, Italia, Spagna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15384" y="2468880"/>
            <a:ext cx="0" cy="3200400"/>
          </a:xfrm>
          <a:prstGeom prst="line">
            <a:avLst/>
          </a:prstGeom>
          <a:ln w="6350"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89704" y="2468880"/>
            <a:ext cx="320954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Graphik Medium"/>
              </a:rPr>
              <a:t>Gorze &amp;
Lorena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4023360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Graphik"/>
              </a:rPr>
              <a:t>Riforma parallela senza esenzione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4526280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Graphik"/>
              </a:rPr>
              <a:t>Camaldoli (san Romualdo): ritorno all'eremitismo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5029200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Graphik"/>
              </a:rPr>
              <a:t>Fonte Avellana (Pier Damiani)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73568" y="2468880"/>
            <a:ext cx="0" cy="3200400"/>
          </a:xfrm>
          <a:prstGeom prst="line">
            <a:avLst/>
          </a:prstGeom>
          <a:ln w="6350"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47888" y="2468880"/>
            <a:ext cx="320954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Graphik Medium"/>
              </a:rPr>
              <a:t>Italia &amp;
autonomia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4023360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Graphik Medium"/>
              </a:rPr>
              <a:t>Vallombrosa</a:t>
            </a:r>
            <a:r>
              <a:rPr sz="1400" b="0">
                <a:solidFill>
                  <a:srgbClr val="FFFFFF"/>
                </a:solidFill>
                <a:latin typeface="Graphik"/>
              </a:rPr>
              <a:t>  Giovanni Gualberto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526280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Graphik Medium"/>
              </a:rPr>
              <a:t>Montevergine</a:t>
            </a:r>
            <a:r>
              <a:rPr sz="1400" b="0">
                <a:solidFill>
                  <a:srgbClr val="FFFFFF"/>
                </a:solidFill>
                <a:latin typeface="Graphik"/>
              </a:rPr>
              <a:t>  anti-simonia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5029200"/>
            <a:ext cx="320954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Graphik Medium"/>
              </a:rPr>
              <a:t>1098</a:t>
            </a:r>
            <a:r>
              <a:rPr sz="1400" b="0">
                <a:solidFill>
                  <a:srgbClr val="FFFFFF"/>
                </a:solidFill>
                <a:latin typeface="Graphik"/>
              </a:rPr>
              <a:t>  nascita di Cîteaux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199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Graphik Medium"/>
              </a:rPr>
              <a:t>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636422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Graphik"/>
              </a:rPr>
              <a:t>Copyright © 2026 Accenture. All rights reserved.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36422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Graphik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quid-steel-bl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27432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344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07010A"/>
                </a:solidFill>
                <a:latin typeface="Graphik"/>
              </a:rPr>
              <a:t>DECLINO E NUOVE FAMIGLIE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777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7010A"/>
                </a:solidFill>
                <a:latin typeface="Graphik Medium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07010A"/>
                </a:solidFill>
                <a:latin typeface="Graphik"/>
              </a:rPr>
              <a:t>Concorrenza dei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7010A"/>
                </a:solidFill>
                <a:latin typeface="Graphik"/>
              </a:rPr>
              <a:t>XIII-XIV secolo: monasteri spopolati, nuove congregazioni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7010A"/>
                </a:solidFill>
                <a:latin typeface="Graphik"/>
              </a:rPr>
              <a:t>La bolla Summi Magistri (1336) di Benedetto XII tenta una riorganizzazione con effetti limitati. Sorgono nuove famiglie: silvestrini (1231), celestini (1259), </a:t>
            </a:r>
            <a:r>
              <a:rPr sz="1800" b="0" u="sng">
                <a:solidFill>
                  <a:srgbClr val="07010A"/>
                </a:solidFill>
                <a:latin typeface="Graphik"/>
                <a:uFill>
                  <a:solidFill>
                    <a:srgbClr val="702FFF"/>
                  </a:solidFill>
                </a:uFill>
              </a:rPr>
              <a:t>olivetani (1313, Bernardo Tolomei)</a:t>
            </a:r>
            <a:r>
              <a:rPr sz="1800" b="0">
                <a:solidFill>
                  <a:srgbClr val="07010A"/>
                </a:solidFill>
                <a:latin typeface="Graphik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199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702FFF"/>
                </a:solidFill>
                <a:latin typeface="Graphik Medium"/>
              </a:rPr>
              <a:t>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36422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07010A"/>
                </a:solidFill>
                <a:latin typeface="Graphik"/>
              </a:rPr>
              <a:t>Copyright © 2026 Accenture. All rights reserved.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36422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07010A"/>
                </a:solidFill>
                <a:latin typeface="Graphik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quid-steel-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27432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6344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07010A"/>
                </a:solidFill>
                <a:latin typeface="Graphik"/>
              </a:rPr>
              <a:t>MOVIMENTO DE UNITATE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777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7010A"/>
                </a:solidFill>
                <a:latin typeface="Graphik Medium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07010A"/>
                </a:solidFill>
                <a:latin typeface="Graphik"/>
              </a:rPr>
              <a:t>Ludovico Barbo 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7010A"/>
                </a:solidFill>
                <a:latin typeface="Graphik"/>
              </a:rPr>
              <a:t>Una nuova architettura di governo monastico (XV secolo)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7010A"/>
                </a:solidFill>
                <a:latin typeface="Graphik"/>
              </a:rPr>
              <a:t>Contro l'abuso della commenda, nel 1419 nasce la congregazione de Unitate. Dal 1504, con l'ingresso di Montecassino, diventa Cassinese: capitolo generale annuale, </a:t>
            </a:r>
            <a:r>
              <a:rPr sz="1800" b="0" u="sng">
                <a:solidFill>
                  <a:srgbClr val="07010A"/>
                </a:solidFill>
                <a:latin typeface="Graphik"/>
                <a:uFill>
                  <a:solidFill>
                    <a:srgbClr val="702FFF"/>
                  </a:solidFill>
                </a:uFill>
              </a:rPr>
              <a:t>abate presidente e mobilità dei monaci</a:t>
            </a:r>
            <a:r>
              <a:rPr sz="1800" b="0">
                <a:solidFill>
                  <a:srgbClr val="07010A"/>
                </a:solidFill>
                <a:latin typeface="Graphik"/>
              </a:rPr>
              <a:t>. Riforme parallele in Germania (Bursfelde, Melk) e Spagna (Montserrat, Valladolid).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199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702FFF"/>
                </a:solidFill>
                <a:latin typeface="Graphik Medium"/>
              </a:rPr>
              <a:t>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36422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07010A"/>
                </a:solidFill>
                <a:latin typeface="Graphik"/>
              </a:rPr>
              <a:t>Copyright © 2026 Accenture. All rights reserved.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36422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07010A"/>
                </a:solidFill>
                <a:latin typeface="Graphik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quid-steel-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-274320"/>
            <a:ext cx="3657600" cy="36483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286000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Graphik"/>
              </a:rPr>
              <a:t>1521.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Graphik"/>
              </a:rPr>
              <a:t>Delle oltre 1.500 abbazie europee di inizio Cinquecento, ne sopravvivono circa 800. In Inghilterra, dal 1528 Enrico VIII avvia la dissoluzione dei monasteri.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Graphik Medium"/>
              </a:rPr>
              <a:t>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6422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Graphik"/>
              </a:rPr>
              <a:t>Copyright © 2026 Accenture.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36422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Graphik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702FFF"/>
              </a:gs>
              <a:gs pos="84000">
                <a:srgbClr val="8134FF"/>
              </a:gs>
              <a:gs pos="100000">
                <a:srgbClr val="A33EFF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6344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Graphik"/>
              </a:rPr>
              <a:t>LA CONFEDERAZIONE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777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Graphik Medium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4552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Graphik"/>
              </a:rPr>
              <a:t>1893: Leone XIII riunisce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199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Graphik Medium"/>
              </a:rPr>
              <a:t>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6422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Graphik"/>
              </a:rPr>
              <a:t>Copyright © 2026 Accenture.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36422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Graphik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0" y="228600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07010A"/>
                </a:solidFill>
                <a:latin typeface="Graphik Medium"/>
              </a:rPr>
              <a:t>Sant'Anselmo all'Aventino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0175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7010A"/>
                </a:solidFill>
                <a:latin typeface="Graphik"/>
              </a:rPr>
              <a:t>Sede dell'Abate Primate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520439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7010A"/>
                </a:solidFill>
                <a:latin typeface="Graphik"/>
              </a:rPr>
              <a:t>Confederatio Benedictina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023359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7010A"/>
                </a:solidFill>
                <a:latin typeface="Graphik"/>
              </a:rPr>
              <a:t>Roma — dal 1893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199632"/>
            <a:ext cx="640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>
                <a:solidFill>
                  <a:srgbClr val="702FFF"/>
                </a:solidFill>
                <a:latin typeface="Graphik Medium"/>
              </a:rPr>
              <a:t>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36422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07010A"/>
                </a:solidFill>
                <a:latin typeface="Graphik"/>
              </a:rPr>
              <a:t>Copyright © 2026 Accenture.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36422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07010A"/>
                </a:solidFill>
                <a:latin typeface="Graphik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